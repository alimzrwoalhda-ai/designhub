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7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8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42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173970"/>
            <a:ext cx="4114800" cy="6693408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182880" y="457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إقليم سبأ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كلية تكنولوجيا المعلومات</a:t>
            </a:r>
            <a:endParaRPr lang="en-US" sz="1300" dirty="0"/>
          </a:p>
          <a:p>
            <a:pPr marL="0" indent="0" algn="ctr" rtl="1">
              <a:buNone/>
            </a:pPr>
            <a:r>
              <a:rPr lang="en-US" sz="13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وعلوم الحاسوب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200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2549752" y="19659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المادة: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43" y="1938997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وتصميم نظم المعلومات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49752" y="2587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43" y="25877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معاذ الصبري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9752" y="32095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43" y="32095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بلال مزروع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9752" y="38313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المنهجية: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43" y="38313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Functional-Oriented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9752" y="445312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العام: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43" y="4453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/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109728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</a:t>
            </a:r>
            <a:endParaRPr lang="en-US" sz="5400" dirty="0"/>
          </a:p>
          <a:p>
            <a:pPr marL="0" indent="0" algn="ctr" rtl="1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الأنشطة الطلابية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4389120" y="3566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Activity Management System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89120" y="4114800"/>
            <a:ext cx="73152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4389120" y="42519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</a:t>
            </a:r>
            <a:r>
              <a:rPr lang="ar-SA" sz="15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نهائي</a:t>
            </a:r>
            <a:r>
              <a:rPr lang="en-US" sz="15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مادة تحليل وتصميم نظم المعلومات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4800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 |  C# WinForms  |  Oracle APEX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768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" y="-27432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محتويات العرض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4022" y="649224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طريق المشروع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380744"/>
            <a:ext cx="5760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11475720" y="1384613"/>
            <a:ext cx="6400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11521440" y="165506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14534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والأهداف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55080" y="1853419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لماذا بُني هذا النظام؟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369148" y="2545631"/>
            <a:ext cx="5760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12" name="Shape 10"/>
          <p:cNvSpPr/>
          <p:nvPr/>
        </p:nvSpPr>
        <p:spPr>
          <a:xfrm>
            <a:off x="11475720" y="2590389"/>
            <a:ext cx="6400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11521440" y="28274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69148" y="2614211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التحليل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946" y="30389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DFD + ERD +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مواصفات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النظام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46874" y="3857355"/>
            <a:ext cx="5760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7" name="Shape 15"/>
          <p:cNvSpPr/>
          <p:nvPr/>
        </p:nvSpPr>
        <p:spPr>
          <a:xfrm>
            <a:off x="11475720" y="3834262"/>
            <a:ext cx="6400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11471617" y="4142989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39104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التصميم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69148" y="43080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 + الكائنات الأكاديمية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55080" y="5001530"/>
            <a:ext cx="5760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Shape 20"/>
          <p:cNvSpPr/>
          <p:nvPr/>
        </p:nvSpPr>
        <p:spPr>
          <a:xfrm>
            <a:off x="11475720" y="5024623"/>
            <a:ext cx="6400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23" name="Text 21"/>
          <p:cNvSpPr/>
          <p:nvPr/>
        </p:nvSpPr>
        <p:spPr>
          <a:xfrm>
            <a:off x="11467514" y="5228955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92240" y="5183235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التنفيذ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9148" y="5548995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WinForms + Oracle Connection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43840" y="1393113"/>
            <a:ext cx="5760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000"/>
          </a:p>
        </p:txBody>
      </p:sp>
      <p:sp>
        <p:nvSpPr>
          <p:cNvPr id="27" name="Shape 25"/>
          <p:cNvSpPr/>
          <p:nvPr/>
        </p:nvSpPr>
        <p:spPr>
          <a:xfrm>
            <a:off x="5361432" y="1393113"/>
            <a:ext cx="6400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000" dirty="0"/>
          </a:p>
        </p:txBody>
      </p:sp>
      <p:sp>
        <p:nvSpPr>
          <p:cNvPr id="28" name="Text 26"/>
          <p:cNvSpPr/>
          <p:nvPr/>
        </p:nvSpPr>
        <p:spPr>
          <a:xfrm>
            <a:off x="5364480" y="1667433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92608" y="1498913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الكائنات الأكاديمية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328" y="1840903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Index, Function, Trigger, Procedure</a:t>
            </a:r>
            <a:endParaRPr lang="en-US" b="1" dirty="0"/>
          </a:p>
        </p:txBody>
      </p:sp>
      <p:sp>
        <p:nvSpPr>
          <p:cNvPr id="31" name="Shape 29"/>
          <p:cNvSpPr/>
          <p:nvPr/>
        </p:nvSpPr>
        <p:spPr>
          <a:xfrm>
            <a:off x="243840" y="2595841"/>
            <a:ext cx="5760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000"/>
          </a:p>
        </p:txBody>
      </p:sp>
      <p:sp>
        <p:nvSpPr>
          <p:cNvPr id="32" name="Shape 30"/>
          <p:cNvSpPr/>
          <p:nvPr/>
        </p:nvSpPr>
        <p:spPr>
          <a:xfrm>
            <a:off x="5378548" y="2592324"/>
            <a:ext cx="6400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2812219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97297" y="2680775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التقرير الشهري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1507" y="3118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هيكلية التقرير الكاملة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57908" y="3874770"/>
            <a:ext cx="5760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000"/>
          </a:p>
        </p:txBody>
      </p:sp>
      <p:sp>
        <p:nvSpPr>
          <p:cNvPr id="37" name="Shape 35"/>
          <p:cNvSpPr/>
          <p:nvPr/>
        </p:nvSpPr>
        <p:spPr>
          <a:xfrm>
            <a:off x="5364480" y="3879342"/>
            <a:ext cx="64008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000"/>
          </a:p>
        </p:txBody>
      </p:sp>
      <p:sp>
        <p:nvSpPr>
          <p:cNvPr id="38" name="Text 36"/>
          <p:cNvSpPr/>
          <p:nvPr/>
        </p:nvSpPr>
        <p:spPr>
          <a:xfrm>
            <a:off x="5361432" y="410337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267990" y="394335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 والتوصيات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92608" y="43567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 والخطوات القادمة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4864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-54864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والأهداف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الدافع وراء بناء النظام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5577840" cy="5029200"/>
          </a:xfrm>
          <a:prstGeom prst="rect">
            <a:avLst/>
          </a:prstGeom>
          <a:solidFill>
            <a:srgbClr val="FFF8F0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55778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المشكلة الحالية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7680" y="187452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ورقية وجداول Excel متفرقة لكل فصل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صعوبة تتبع حضور الطلاب الشهري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تكرار إدخال البيانات في كل نشاط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دقة الإحصائيات والاشتراكات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استحالة البحث السريع في البيانات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صعوبة إنتاج تقارير شهرية منظمة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669280" cy="5029200"/>
          </a:xfrm>
          <a:prstGeom prst="rect">
            <a:avLst/>
          </a:prstGeom>
          <a:solidFill>
            <a:srgbClr val="EAF2FB"/>
          </a:solidFill>
          <a:ln w="190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6692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0" y="12984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أهداف النظام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مركزية للفصول الأربعة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الطالب مرة واحدة — يُستخدم للأبد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ربط الطلاب بكل نشاط (Trigger)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مالية مرنة لكل طالب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متعدد الحقول فوري</a:t>
            </a:r>
            <a:endParaRPr lang="en-US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شهرية وسنوية تفصيلية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التحليل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مواصفات النظام + مخططات DFD و ERD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16128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بيئة النظام — Context Diagram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560320" cy="1280160"/>
          </a:xfrm>
          <a:prstGeom prst="rect">
            <a:avLst/>
          </a:prstGeom>
          <a:solidFill>
            <a:srgbClr val="EAF2FB"/>
          </a:solidFill>
          <a:ln w="190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 / المشرف</a:t>
            </a:r>
            <a:endParaRPr lang="en-US" dirty="0"/>
          </a:p>
          <a:p>
            <a:pPr marL="0" indent="0" algn="ct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)كيان خارجي(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2926080" cy="1280160"/>
          </a:xfrm>
          <a:prstGeom prst="rect">
            <a:avLst/>
          </a:prstGeom>
          <a:solidFill>
            <a:srgbClr val="1A3A5C"/>
          </a:solidFill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11" name="Text 9"/>
          <p:cNvSpPr/>
          <p:nvPr/>
        </p:nvSpPr>
        <p:spPr>
          <a:xfrm>
            <a:off x="4617720" y="18745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إدارة الأنشطة</a:t>
            </a:r>
            <a:endParaRPr lang="en-US" sz="2000" dirty="0"/>
          </a:p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الطلابية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35440" y="1783080"/>
            <a:ext cx="2560320" cy="1280160"/>
          </a:xfrm>
          <a:prstGeom prst="rect">
            <a:avLst/>
          </a:prstGeom>
          <a:solidFill>
            <a:srgbClr val="EAF2FB"/>
          </a:solidFill>
          <a:ln w="190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13" name="Text 11"/>
          <p:cNvSpPr/>
          <p:nvPr/>
        </p:nvSpPr>
        <p:spPr>
          <a:xfrm>
            <a:off x="9235440" y="19202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الطلاب</a:t>
            </a:r>
            <a:endParaRPr lang="en-US" dirty="0"/>
          </a:p>
          <a:p>
            <a:pPr marL="0" indent="0" algn="ct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)كيان خارجي(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926080" y="2240280"/>
            <a:ext cx="169164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15" name="Text 13"/>
          <p:cNvSpPr/>
          <p:nvPr/>
        </p:nvSpPr>
        <p:spPr>
          <a:xfrm>
            <a:off x="283464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الطلاب ◄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34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تقارير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43800" y="2240280"/>
            <a:ext cx="169164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18" name="Text 16"/>
          <p:cNvSpPr/>
          <p:nvPr/>
        </p:nvSpPr>
        <p:spPr>
          <a:xfrm>
            <a:off x="74980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اسم + فصل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11612880" cy="3657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20" name="Text 18"/>
          <p:cNvSpPr/>
          <p:nvPr/>
        </p:nvSpPr>
        <p:spPr>
          <a:xfrm>
            <a:off x="274320" y="32461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المستوى الأول — العمليات الرئيسية الأربع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128760" y="3736144"/>
            <a:ext cx="274320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22" name="Shape 20"/>
          <p:cNvSpPr/>
          <p:nvPr/>
        </p:nvSpPr>
        <p:spPr>
          <a:xfrm>
            <a:off x="9126415" y="3749740"/>
            <a:ext cx="27432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23" name="Text 21"/>
          <p:cNvSpPr/>
          <p:nvPr/>
        </p:nvSpPr>
        <p:spPr>
          <a:xfrm>
            <a:off x="11273494" y="37361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87960" y="3703319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326880" y="5244904"/>
            <a:ext cx="2377440" cy="384048"/>
          </a:xfrm>
          <a:prstGeom prst="rect">
            <a:avLst/>
          </a:prstGeom>
          <a:solidFill>
            <a:srgbClr val="EAF2FB"/>
          </a:solidFill>
          <a:ln w="1016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26" name="Text 24"/>
          <p:cNvSpPr/>
          <p:nvPr/>
        </p:nvSpPr>
        <p:spPr>
          <a:xfrm>
            <a:off x="9326880" y="52449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+ CLASSES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6337" y="3767327"/>
            <a:ext cx="274320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28" name="Shape 26"/>
          <p:cNvSpPr/>
          <p:nvPr/>
        </p:nvSpPr>
        <p:spPr>
          <a:xfrm>
            <a:off x="6172200" y="3777408"/>
            <a:ext cx="27432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 dirty="0"/>
          </a:p>
        </p:txBody>
      </p:sp>
      <p:sp>
        <p:nvSpPr>
          <p:cNvPr id="29" name="Text 27"/>
          <p:cNvSpPr/>
          <p:nvPr/>
        </p:nvSpPr>
        <p:spPr>
          <a:xfrm>
            <a:off x="8293489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81809" y="3736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الأنشطة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349217" y="5276087"/>
            <a:ext cx="2377440" cy="384048"/>
          </a:xfrm>
          <a:prstGeom prst="rect">
            <a:avLst/>
          </a:prstGeom>
          <a:solidFill>
            <a:srgbClr val="EAF2FB"/>
          </a:solidFill>
          <a:ln w="1016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32" name="Text 30"/>
          <p:cNvSpPr/>
          <p:nvPr/>
        </p:nvSpPr>
        <p:spPr>
          <a:xfrm>
            <a:off x="6349217" y="5276087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+ REGISTRATION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72206" y="3767327"/>
            <a:ext cx="274320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34" name="Shape 32"/>
          <p:cNvSpPr/>
          <p:nvPr/>
        </p:nvSpPr>
        <p:spPr>
          <a:xfrm>
            <a:off x="3248465" y="3736144"/>
            <a:ext cx="27432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35" name="Text 33"/>
          <p:cNvSpPr/>
          <p:nvPr/>
        </p:nvSpPr>
        <p:spPr>
          <a:xfrm>
            <a:off x="5383820" y="37497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283632" y="3736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النشاط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429000" y="5257799"/>
            <a:ext cx="2377440" cy="384048"/>
          </a:xfrm>
          <a:prstGeom prst="rect">
            <a:avLst/>
          </a:prstGeom>
          <a:solidFill>
            <a:srgbClr val="EAF2FB"/>
          </a:solidFill>
          <a:ln w="1016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38" name="Text 36"/>
          <p:cNvSpPr/>
          <p:nvPr/>
        </p:nvSpPr>
        <p:spPr>
          <a:xfrm>
            <a:off x="3429000" y="5257799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LECTURES + ADMIN + SCHEDULE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736144"/>
            <a:ext cx="274320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40" name="Shape 38"/>
          <p:cNvSpPr/>
          <p:nvPr/>
        </p:nvSpPr>
        <p:spPr>
          <a:xfrm>
            <a:off x="274320" y="3749039"/>
            <a:ext cx="27432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41" name="Text 39"/>
          <p:cNvSpPr/>
          <p:nvPr/>
        </p:nvSpPr>
        <p:spPr>
          <a:xfrm>
            <a:off x="2416418" y="37818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331468" y="3755129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57200" y="5257799"/>
            <a:ext cx="2377440" cy="384048"/>
          </a:xfrm>
          <a:prstGeom prst="rect">
            <a:avLst/>
          </a:prstGeom>
          <a:solidFill>
            <a:srgbClr val="EAF2FB"/>
          </a:solidFill>
          <a:ln w="1016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44" name="Text 42"/>
          <p:cNvSpPr/>
          <p:nvPr/>
        </p:nvSpPr>
        <p:spPr>
          <a:xfrm>
            <a:off x="457200" y="5257799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+ ACTIVITIES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الكينونة-علاقة (ERD)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 قاعدة البيانات — 9 جداول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7251" y="12801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7" name="Shape 5"/>
          <p:cNvSpPr/>
          <p:nvPr/>
        </p:nvSpPr>
        <p:spPr>
          <a:xfrm>
            <a:off x="607251" y="12801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8" name="Text 6"/>
          <p:cNvSpPr/>
          <p:nvPr/>
        </p:nvSpPr>
        <p:spPr>
          <a:xfrm>
            <a:off x="680403" y="13167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8691" y="17190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CLASS_ID (PK), CLASS_NAME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2526" y="12801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11" name="Shape 9"/>
          <p:cNvSpPr/>
          <p:nvPr/>
        </p:nvSpPr>
        <p:spPr>
          <a:xfrm>
            <a:off x="4752526" y="12801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12" name="Text 10"/>
          <p:cNvSpPr/>
          <p:nvPr/>
        </p:nvSpPr>
        <p:spPr>
          <a:xfrm>
            <a:off x="4825678" y="13167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3966" y="17190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(PK), FULL_NAME,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CLASS_ID (FK), PHONE, AGE...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2526" y="28163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Many→One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53965" y="12801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 dirty="0"/>
          </a:p>
        </p:txBody>
      </p:sp>
      <p:sp>
        <p:nvSpPr>
          <p:cNvPr id="16" name="Shape 14"/>
          <p:cNvSpPr/>
          <p:nvPr/>
        </p:nvSpPr>
        <p:spPr>
          <a:xfrm>
            <a:off x="8653965" y="12801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17" name="Text 15"/>
          <p:cNvSpPr/>
          <p:nvPr/>
        </p:nvSpPr>
        <p:spPr>
          <a:xfrm>
            <a:off x="8727117" y="13167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45405" y="17190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(PK), NAME,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YEAR, DATE, LOCATION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22201" y="31980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20" name="Shape 18"/>
          <p:cNvSpPr/>
          <p:nvPr/>
        </p:nvSpPr>
        <p:spPr>
          <a:xfrm>
            <a:off x="3022201" y="31980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21" name="Text 19"/>
          <p:cNvSpPr/>
          <p:nvPr/>
        </p:nvSpPr>
        <p:spPr>
          <a:xfrm>
            <a:off x="3095353" y="32346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ACTIVITY_REGISTRATION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13641" y="36369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REG_ID (PK), STUDENT_ID (FK),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(FK), ATTENDED,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IS_NEW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6831" y="47342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Many↔Many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50268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25" name="Shape 23"/>
          <p:cNvSpPr/>
          <p:nvPr/>
        </p:nvSpPr>
        <p:spPr>
          <a:xfrm>
            <a:off x="274320" y="50268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26" name="Text 24"/>
          <p:cNvSpPr/>
          <p:nvPr/>
        </p:nvSpPr>
        <p:spPr>
          <a:xfrm>
            <a:off x="347472" y="50634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ACTIVITY_MANAGEMENT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" y="54657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MANAGEMENT_ID (PK),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(FK), NAME,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65630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Many→One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5091" y="50268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30" name="Shape 28"/>
          <p:cNvSpPr/>
          <p:nvPr/>
        </p:nvSpPr>
        <p:spPr>
          <a:xfrm>
            <a:off x="3205091" y="50268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31" name="Text 29"/>
          <p:cNvSpPr/>
          <p:nvPr/>
        </p:nvSpPr>
        <p:spPr>
          <a:xfrm>
            <a:off x="3278243" y="50634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96531" y="54657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(PK),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(FK), NAME, TIME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58200" y="65630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Many→One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6921" y="31980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35" name="Shape 33"/>
          <p:cNvSpPr/>
          <p:nvPr/>
        </p:nvSpPr>
        <p:spPr>
          <a:xfrm>
            <a:off x="6496921" y="31980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36" name="Text 34"/>
          <p:cNvSpPr/>
          <p:nvPr/>
        </p:nvSpPr>
        <p:spPr>
          <a:xfrm>
            <a:off x="6570073" y="32346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PROGRAM_SCHEDULE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8361" y="36369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SCHEDULE_ID (PK),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(FK), FROM, 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81551" y="47342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Many→One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32808" y="50268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40" name="Shape 38"/>
          <p:cNvSpPr/>
          <p:nvPr/>
        </p:nvSpPr>
        <p:spPr>
          <a:xfrm>
            <a:off x="6332808" y="50268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41" name="Text 39"/>
          <p:cNvSpPr/>
          <p:nvPr/>
        </p:nvSpPr>
        <p:spPr>
          <a:xfrm>
            <a:off x="6405960" y="50634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ACTIVITY_EVALUATION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24248" y="54657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EVAL_ID (PK),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(FK), +/- / Suggest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65630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One→One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303446" y="5026860"/>
            <a:ext cx="2651760" cy="1554480"/>
          </a:xfrm>
          <a:prstGeom prst="rect">
            <a:avLst/>
          </a:prstGeom>
          <a:solidFill>
            <a:srgbClr val="EAF2FB"/>
          </a:solidFill>
          <a:ln w="1524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800"/>
          </a:p>
        </p:txBody>
      </p:sp>
      <p:sp>
        <p:nvSpPr>
          <p:cNvPr id="45" name="Shape 43"/>
          <p:cNvSpPr/>
          <p:nvPr/>
        </p:nvSpPr>
        <p:spPr>
          <a:xfrm>
            <a:off x="9303446" y="5026860"/>
            <a:ext cx="26517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800"/>
          </a:p>
        </p:txBody>
      </p:sp>
      <p:sp>
        <p:nvSpPr>
          <p:cNvPr id="46" name="Text 44"/>
          <p:cNvSpPr/>
          <p:nvPr/>
        </p:nvSpPr>
        <p:spPr>
          <a:xfrm>
            <a:off x="9376598" y="5063436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394886" y="546577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ENT_ID (PK),</a:t>
            </a:r>
            <a:endParaRPr lang="en-US" sz="1100" dirty="0"/>
          </a:p>
          <a:p>
            <a:pPr marL="0" indent="0" rtl="1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ACTIVITY_ID (FK), ITEM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303446" y="65630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Many→One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9728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الكائنات الأكاديمية الأربعة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وظيفي</a:t>
            </a:r>
            <a:r>
              <a:rPr lang="ar-SA" sz="20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9191484" y="1353312"/>
            <a:ext cx="2743200" cy="5120640"/>
          </a:xfrm>
          <a:prstGeom prst="rect">
            <a:avLst/>
          </a:prstGeom>
          <a:solidFill>
            <a:srgbClr val="122840"/>
          </a:solidFill>
          <a:ln w="254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9191484" y="1359642"/>
            <a:ext cx="2743200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9282924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282924" y="17922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فهارس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8644" y="2267712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IDX_ACT_MONTH_YEAR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IDX_AR_STUDENT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IDX_AR_ACTIVITY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IDX_STU_CLASS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IDX_STU_NAME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74364" y="5945945"/>
            <a:ext cx="2377440" cy="418279"/>
          </a:xfrm>
          <a:prstGeom prst="rect">
            <a:avLst/>
          </a:prstGeom>
          <a:solidFill>
            <a:srgbClr val="2E6DA4">
              <a:alpha val="60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sz="4000" b="1"/>
          </a:p>
        </p:txBody>
      </p:sp>
      <p:sp>
        <p:nvSpPr>
          <p:cNvPr id="12" name="Text 10"/>
          <p:cNvSpPr/>
          <p:nvPr/>
        </p:nvSpPr>
        <p:spPr>
          <a:xfrm>
            <a:off x="9374364" y="5945945"/>
            <a:ext cx="2377440" cy="418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تسريع الاستعلامات</a:t>
            </a:r>
            <a:endParaRPr lang="en-US" b="1" dirty="0"/>
          </a:p>
        </p:txBody>
      </p:sp>
      <p:sp>
        <p:nvSpPr>
          <p:cNvPr id="13" name="Shape 11"/>
          <p:cNvSpPr/>
          <p:nvPr/>
        </p:nvSpPr>
        <p:spPr>
          <a:xfrm>
            <a:off x="6222614" y="1353312"/>
            <a:ext cx="2743200" cy="5120640"/>
          </a:xfrm>
          <a:prstGeom prst="rect">
            <a:avLst/>
          </a:prstGeom>
          <a:solidFill>
            <a:srgbClr val="122840"/>
          </a:solidFill>
          <a:ln w="254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Shape 12"/>
          <p:cNvSpPr/>
          <p:nvPr/>
        </p:nvSpPr>
        <p:spPr>
          <a:xfrm>
            <a:off x="6222614" y="1353312"/>
            <a:ext cx="274320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/>
          <p:nvPr/>
        </p:nvSpPr>
        <p:spPr>
          <a:xfrm>
            <a:off x="6314054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14054" y="17922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دالتان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9774" y="2267712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GET_STUDENT_YEARLY_TOTAL</a:t>
            </a:r>
            <a:endParaRPr lang="en-US" sz="12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GET_CLASS_ATTENDANCE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5494" y="5945945"/>
            <a:ext cx="2377440" cy="418279"/>
          </a:xfrm>
          <a:prstGeom prst="rect">
            <a:avLst/>
          </a:prstGeom>
          <a:solidFill>
            <a:srgbClr val="1A7A4A">
              <a:alpha val="60000"/>
            </a:srgbClr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ar-SA" sz="4000" b="1"/>
          </a:p>
        </p:txBody>
      </p:sp>
      <p:sp>
        <p:nvSpPr>
          <p:cNvPr id="19" name="Text 17"/>
          <p:cNvSpPr/>
          <p:nvPr/>
        </p:nvSpPr>
        <p:spPr>
          <a:xfrm>
            <a:off x="6405494" y="5945945"/>
            <a:ext cx="2377440" cy="418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معيارية</a:t>
            </a:r>
            <a:endParaRPr lang="en-US" b="1" dirty="0"/>
          </a:p>
        </p:txBody>
      </p:sp>
      <p:sp>
        <p:nvSpPr>
          <p:cNvPr id="20" name="Shape 18"/>
          <p:cNvSpPr/>
          <p:nvPr/>
        </p:nvSpPr>
        <p:spPr>
          <a:xfrm>
            <a:off x="3234987" y="1353312"/>
            <a:ext cx="2743200" cy="5120640"/>
          </a:xfrm>
          <a:prstGeom prst="rect">
            <a:avLst/>
          </a:prstGeom>
          <a:solidFill>
            <a:srgbClr val="122840"/>
          </a:solidFill>
          <a:ln w="2540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1" name="Shape 19"/>
          <p:cNvSpPr/>
          <p:nvPr/>
        </p:nvSpPr>
        <p:spPr>
          <a:xfrm>
            <a:off x="3234987" y="1353312"/>
            <a:ext cx="2743200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3326427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26427" y="17922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مشغّل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72147" y="2267712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TRG_REGISTER_STUDENTS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يُطلق تلقائياً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INSERT في ACTIVITIES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يستدعي Procedure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لكل طالب نشط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17867" y="5945945"/>
            <a:ext cx="2377440" cy="418279"/>
          </a:xfrm>
          <a:prstGeom prst="rect">
            <a:avLst/>
          </a:prstGeom>
          <a:solidFill>
            <a:srgbClr val="8B1A1A">
              <a:alpha val="60000"/>
            </a:srgbClr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ar-SA" sz="4000" b="1"/>
          </a:p>
        </p:txBody>
      </p:sp>
      <p:sp>
        <p:nvSpPr>
          <p:cNvPr id="26" name="Text 24"/>
          <p:cNvSpPr/>
          <p:nvPr/>
        </p:nvSpPr>
        <p:spPr>
          <a:xfrm>
            <a:off x="3417867" y="5945945"/>
            <a:ext cx="2377440" cy="418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كاملة</a:t>
            </a:r>
            <a:endParaRPr lang="en-US" b="1" dirty="0"/>
          </a:p>
        </p:txBody>
      </p:sp>
      <p:sp>
        <p:nvSpPr>
          <p:cNvPr id="27" name="Shape 25"/>
          <p:cNvSpPr/>
          <p:nvPr/>
        </p:nvSpPr>
        <p:spPr>
          <a:xfrm>
            <a:off x="247934" y="1373707"/>
            <a:ext cx="2743200" cy="5120640"/>
          </a:xfrm>
          <a:prstGeom prst="rect">
            <a:avLst/>
          </a:prstGeom>
          <a:solidFill>
            <a:srgbClr val="122840"/>
          </a:solidFill>
          <a:ln w="25400">
            <a:solidFill>
              <a:srgbClr val="6B3A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8" name="Shape 26"/>
          <p:cNvSpPr/>
          <p:nvPr/>
        </p:nvSpPr>
        <p:spPr>
          <a:xfrm>
            <a:off x="247934" y="1355419"/>
            <a:ext cx="2743200" cy="822960"/>
          </a:xfrm>
          <a:prstGeom prst="rect">
            <a:avLst/>
          </a:prstGeom>
          <a:solidFill>
            <a:srgbClr val="6B3A8B"/>
          </a:solidFill>
          <a:ln w="12700">
            <a:solidFill>
              <a:srgbClr val="6B3A8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Text 27"/>
          <p:cNvSpPr/>
          <p:nvPr/>
        </p:nvSpPr>
        <p:spPr>
          <a:xfrm>
            <a:off x="339374" y="1373707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39374" y="1794331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إجراء واحد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5094" y="2269819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REGISTER_ALL_STUDENTS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تُدرج سجلات الحضور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لكل الطلاب النشطين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ATTENDED='N'</a:t>
            </a:r>
            <a:endParaRPr lang="en-US" sz="1400" dirty="0"/>
          </a:p>
          <a:p>
            <a:pPr marL="342900" indent="-342900" algn="r" rtl="1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SUBSCRIPTION=NULL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0814" y="5948052"/>
            <a:ext cx="2377440" cy="418279"/>
          </a:xfrm>
          <a:prstGeom prst="rect">
            <a:avLst/>
          </a:prstGeom>
          <a:solidFill>
            <a:srgbClr val="6B3A8B">
              <a:alpha val="60000"/>
            </a:srgbClr>
          </a:solidFill>
          <a:ln w="12700">
            <a:solidFill>
              <a:srgbClr val="6B3A8B"/>
            </a:solidFill>
            <a:prstDash val="solid"/>
          </a:ln>
        </p:spPr>
        <p:txBody>
          <a:bodyPr/>
          <a:lstStyle/>
          <a:p>
            <a:pPr algn="ctr"/>
            <a:endParaRPr lang="ar-SA" sz="4000" b="1" dirty="0"/>
          </a:p>
        </p:txBody>
      </p:sp>
      <p:sp>
        <p:nvSpPr>
          <p:cNvPr id="33" name="Text 31"/>
          <p:cNvSpPr/>
          <p:nvPr/>
        </p:nvSpPr>
        <p:spPr>
          <a:xfrm>
            <a:off x="385094" y="5948052"/>
            <a:ext cx="2377440" cy="418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عمليات مركّبة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23" y="0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آلية Trigger التسجيل التلقائي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 النظام عند إنشاء نشاط جديد؟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9738360" y="2116131"/>
            <a:ext cx="2103120" cy="3246121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7" name="Shape 5"/>
          <p:cNvSpPr/>
          <p:nvPr/>
        </p:nvSpPr>
        <p:spPr>
          <a:xfrm>
            <a:off x="9738360" y="2075686"/>
            <a:ext cx="210312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1928023" y="4598314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91114" y="2125275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 يُنشئ نشاطاً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29800" y="2825494"/>
            <a:ext cx="1920240" cy="2361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ACTIVITIES</a:t>
            </a:r>
            <a:endParaRPr lang="en-US" sz="1400" dirty="0"/>
          </a:p>
          <a:p>
            <a:pPr marL="0" indent="0" algn="r" rtl="1">
              <a:lnSpc>
                <a:spcPct val="20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اسم + تاريخ + مكان +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وقت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10800000">
            <a:off x="9497451" y="3840321"/>
            <a:ext cx="22860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 rot="10800000">
            <a:off x="9497451" y="3657441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37120" y="2116131"/>
            <a:ext cx="2103120" cy="3246121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Shape 12"/>
          <p:cNvSpPr/>
          <p:nvPr/>
        </p:nvSpPr>
        <p:spPr>
          <a:xfrm>
            <a:off x="7430084" y="2097843"/>
            <a:ext cx="2103120" cy="6400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/>
          <p:nvPr/>
        </p:nvSpPr>
        <p:spPr>
          <a:xfrm>
            <a:off x="8932983" y="2141629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93391" y="2116131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يُطلق تلقائياً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28560" y="2847651"/>
            <a:ext cx="1920240" cy="23614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TRG_REGISTER_STUDENTS</a:t>
            </a:r>
            <a:endParaRPr lang="en-US" sz="1200" dirty="0"/>
          </a:p>
          <a:p>
            <a:pPr marL="0" indent="0" algn="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ACTIVITIES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08520" y="3835906"/>
            <a:ext cx="22860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 rot="10800000">
            <a:off x="7208520" y="365302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35880" y="2057399"/>
            <a:ext cx="2103120" cy="3264408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1" name="Shape 19"/>
          <p:cNvSpPr/>
          <p:nvPr/>
        </p:nvSpPr>
        <p:spPr>
          <a:xfrm>
            <a:off x="5120639" y="2075686"/>
            <a:ext cx="210312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6672934" y="2141629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827" y="210311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تُنفَّذ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6839" y="2825493"/>
            <a:ext cx="1920240" cy="23614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REGISTER_ALL_STUDENTS</a:t>
            </a:r>
            <a:endParaRPr lang="en-US" sz="1200" dirty="0"/>
          </a:p>
          <a:p>
            <a:pPr marL="0" indent="0" algn="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(P_ACTIVITY_ID)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55793" y="3852845"/>
            <a:ext cx="22860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 rot="11039868">
            <a:off x="2555793" y="3669965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84393" y="2024045"/>
            <a:ext cx="210312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28" name="Shape 26"/>
          <p:cNvSpPr/>
          <p:nvPr/>
        </p:nvSpPr>
        <p:spPr>
          <a:xfrm>
            <a:off x="2804323" y="2024045"/>
            <a:ext cx="210312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Text 27"/>
          <p:cNvSpPr/>
          <p:nvPr/>
        </p:nvSpPr>
        <p:spPr>
          <a:xfrm>
            <a:off x="4395729" y="2074087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894751" y="2047371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الحضور تُنشأ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5833" y="2773853"/>
            <a:ext cx="1920240" cy="22911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لكل طالب STATUS='نشط'</a:t>
            </a:r>
            <a:endParaRPr lang="en-US" sz="1200" dirty="0"/>
          </a:p>
          <a:p>
            <a:pPr marL="0" indent="0" algn="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ATTENDED='N', SUB=NULL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10800000">
            <a:off x="4899985" y="3852845"/>
            <a:ext cx="22860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Text 31"/>
          <p:cNvSpPr/>
          <p:nvPr/>
        </p:nvSpPr>
        <p:spPr>
          <a:xfrm rot="10800000">
            <a:off x="4899985" y="3669965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96403" y="2040102"/>
            <a:ext cx="2133600" cy="3216813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r"/>
            <a:endParaRPr lang="ar-SA" dirty="0"/>
          </a:p>
        </p:txBody>
      </p:sp>
      <p:sp>
        <p:nvSpPr>
          <p:cNvPr id="35" name="Shape 33"/>
          <p:cNvSpPr/>
          <p:nvPr/>
        </p:nvSpPr>
        <p:spPr>
          <a:xfrm>
            <a:off x="411643" y="2001417"/>
            <a:ext cx="210312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1980190" y="2043618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86834" y="2001417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 يُحدّث يدوياً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7843" y="2760603"/>
            <a:ext cx="1920240" cy="22911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علامة حضور + مبلغ الاشتراك</a:t>
            </a:r>
            <a:endParaRPr lang="en-US" sz="1200" dirty="0"/>
          </a:p>
          <a:p>
            <a:pPr marL="0" indent="0" algn="ctr" rtl="1">
              <a:lnSpc>
                <a:spcPct val="20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لكل طالب حسب ظروفه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قائمة حضور كاملة جاهزة فوراً — بدون أي إدخال يدوي من المشرف ✔</a:t>
            </a:r>
            <a:endParaRPr lang="en-US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07DC1DD8-D51C-E37D-49F0-19F881977C6F}"/>
              </a:ext>
            </a:extLst>
          </p:cNvPr>
          <p:cNvSpPr/>
          <p:nvPr/>
        </p:nvSpPr>
        <p:spPr>
          <a:xfrm>
            <a:off x="11292840" y="2141629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واجهات C# WinForms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شاشات النظام — عربية كاملة RightToLeft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24044" y="1327697"/>
            <a:ext cx="5577840" cy="2423160"/>
          </a:xfrm>
          <a:prstGeom prst="rect">
            <a:avLst/>
          </a:prstGeom>
          <a:solidFill>
            <a:srgbClr val="F0F4F8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000"/>
          </a:p>
        </p:txBody>
      </p:sp>
      <p:sp>
        <p:nvSpPr>
          <p:cNvPr id="7" name="Shape 5"/>
          <p:cNvSpPr/>
          <p:nvPr/>
        </p:nvSpPr>
        <p:spPr>
          <a:xfrm>
            <a:off x="6324044" y="1327697"/>
            <a:ext cx="55778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000"/>
          </a:p>
        </p:txBody>
      </p:sp>
      <p:sp>
        <p:nvSpPr>
          <p:cNvPr id="8" name="Text 6"/>
          <p:cNvSpPr/>
          <p:nvPr/>
        </p:nvSpPr>
        <p:spPr>
          <a:xfrm>
            <a:off x="6415484" y="1391705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Form1 — تسجيل الدخول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6924" y="1922057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المستخدم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اتصال Oracle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خطأ واضحة عند الفشل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0116" y="1391705"/>
            <a:ext cx="5577840" cy="2423160"/>
          </a:xfrm>
          <a:prstGeom prst="rect">
            <a:avLst/>
          </a:prstGeom>
          <a:solidFill>
            <a:srgbClr val="F0F4F8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000"/>
          </a:p>
        </p:txBody>
      </p:sp>
      <p:sp>
        <p:nvSpPr>
          <p:cNvPr id="11" name="Shape 9"/>
          <p:cNvSpPr/>
          <p:nvPr/>
        </p:nvSpPr>
        <p:spPr>
          <a:xfrm>
            <a:off x="290116" y="1355129"/>
            <a:ext cx="55778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000"/>
          </a:p>
        </p:txBody>
      </p:sp>
      <p:sp>
        <p:nvSpPr>
          <p:cNvPr id="12" name="Text 10"/>
          <p:cNvSpPr/>
          <p:nvPr/>
        </p:nvSpPr>
        <p:spPr>
          <a:xfrm>
            <a:off x="381556" y="1419137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StudentsForm — إدارة الطلاب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996" y="1949489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مع CLASSES لعرض الفصل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متعدد الحقول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/ تعديل / إيقاف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24044" y="4165092"/>
            <a:ext cx="5577840" cy="2423160"/>
          </a:xfrm>
          <a:prstGeom prst="rect">
            <a:avLst/>
          </a:prstGeom>
          <a:solidFill>
            <a:srgbClr val="F0F4F8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000"/>
          </a:p>
        </p:txBody>
      </p:sp>
      <p:sp>
        <p:nvSpPr>
          <p:cNvPr id="15" name="Shape 13"/>
          <p:cNvSpPr/>
          <p:nvPr/>
        </p:nvSpPr>
        <p:spPr>
          <a:xfrm>
            <a:off x="6324044" y="4165092"/>
            <a:ext cx="55778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000"/>
          </a:p>
        </p:txBody>
      </p:sp>
      <p:sp>
        <p:nvSpPr>
          <p:cNvPr id="16" name="Text 14"/>
          <p:cNvSpPr/>
          <p:nvPr/>
        </p:nvSpPr>
        <p:spPr>
          <a:xfrm>
            <a:off x="6415484" y="42291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AddStudentForm — إضافة طالب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6924" y="4759452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ComboBox للفصول من قاعدة البيانات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من الحقول الإلزامية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إدخال حروف في العمر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71914" y="4165092"/>
            <a:ext cx="5577840" cy="2423160"/>
          </a:xfrm>
          <a:prstGeom prst="rect">
            <a:avLst/>
          </a:prstGeom>
          <a:solidFill>
            <a:srgbClr val="F0F4F8"/>
          </a:solidFill>
          <a:ln w="1524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000"/>
          </a:p>
        </p:txBody>
      </p:sp>
      <p:sp>
        <p:nvSpPr>
          <p:cNvPr id="19" name="Shape 17"/>
          <p:cNvSpPr/>
          <p:nvPr/>
        </p:nvSpPr>
        <p:spPr>
          <a:xfrm>
            <a:off x="271914" y="4165092"/>
            <a:ext cx="55778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000"/>
          </a:p>
        </p:txBody>
      </p:sp>
      <p:sp>
        <p:nvSpPr>
          <p:cNvPr id="20" name="Text 18"/>
          <p:cNvSpPr/>
          <p:nvPr/>
        </p:nvSpPr>
        <p:spPr>
          <a:xfrm>
            <a:off x="363354" y="42291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EditStudentForm — تعديل بيانات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4794" y="4759452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Form_Load يملأ الحقول تلقائياً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using/con.Open() صحيح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قبل الحفظ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هيكلية التقرير الشهري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 للنموذج الورقي الأصلي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94120" y="1248156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7" name="Shape 5"/>
          <p:cNvSpPr/>
          <p:nvPr/>
        </p:nvSpPr>
        <p:spPr>
          <a:xfrm>
            <a:off x="11314410" y="1248156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8" name="Text 6"/>
          <p:cNvSpPr/>
          <p:nvPr/>
        </p:nvSpPr>
        <p:spPr>
          <a:xfrm>
            <a:off x="11314410" y="1568196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48984" y="1365857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 والمكان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48984" y="1804769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المكان - اليوم - الوقت )من/إلى( - التاريخ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1" y="1278871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12" name="Shape 10"/>
          <p:cNvSpPr/>
          <p:nvPr/>
        </p:nvSpPr>
        <p:spPr>
          <a:xfrm>
            <a:off x="5328138" y="1280160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13" name="Text 11"/>
          <p:cNvSpPr/>
          <p:nvPr/>
        </p:nvSpPr>
        <p:spPr>
          <a:xfrm>
            <a:off x="5346426" y="1600200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3969" y="128719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الإحصائية الرقمية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3969" y="1726106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جدول: المسجلون / سابقون / جدد / إجمالي لكل فصل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94120" y="2640271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17" name="Shape 15"/>
          <p:cNvSpPr/>
          <p:nvPr/>
        </p:nvSpPr>
        <p:spPr>
          <a:xfrm>
            <a:off x="11323320" y="2654573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18" name="Text 16"/>
          <p:cNvSpPr/>
          <p:nvPr/>
        </p:nvSpPr>
        <p:spPr>
          <a:xfrm>
            <a:off x="11341608" y="2974613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51329" y="2713423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المشروع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51329" y="3152335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فريق الإدارة: مدير، ثقافي، رياضي، إعلام...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2608" y="2630191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22" name="Shape 20"/>
          <p:cNvSpPr/>
          <p:nvPr/>
        </p:nvSpPr>
        <p:spPr>
          <a:xfrm>
            <a:off x="5324152" y="2621748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23" name="Text 21"/>
          <p:cNvSpPr/>
          <p:nvPr/>
        </p:nvSpPr>
        <p:spPr>
          <a:xfrm>
            <a:off x="5342440" y="2941788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26697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المحاضرات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0040" y="310861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محاضرات: الاسم + المحاضر + الوقت + ملاحظة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12408" y="3947981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27" name="Shape 25"/>
          <p:cNvSpPr/>
          <p:nvPr/>
        </p:nvSpPr>
        <p:spPr>
          <a:xfrm>
            <a:off x="11323320" y="3954433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28" name="Text 26"/>
          <p:cNvSpPr/>
          <p:nvPr/>
        </p:nvSpPr>
        <p:spPr>
          <a:xfrm>
            <a:off x="11341608" y="4274473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3848" y="4046339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البرنامج الترفيهي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03848" y="4485251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الفقرات الترفيهية للنشاط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8938" y="3971779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32" name="Shape 30"/>
          <p:cNvSpPr/>
          <p:nvPr/>
        </p:nvSpPr>
        <p:spPr>
          <a:xfrm>
            <a:off x="5341734" y="3958186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33" name="Text 31"/>
          <p:cNvSpPr/>
          <p:nvPr/>
        </p:nvSpPr>
        <p:spPr>
          <a:xfrm>
            <a:off x="5360022" y="4278226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88618" y="4019849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التكلفة المالية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88618" y="4458761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التكلفة كتابةً بالريال اليمني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30696" y="5377141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37" name="Shape 35"/>
          <p:cNvSpPr/>
          <p:nvPr/>
        </p:nvSpPr>
        <p:spPr>
          <a:xfrm>
            <a:off x="11359427" y="5390417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38" name="Text 36"/>
          <p:cNvSpPr/>
          <p:nvPr/>
        </p:nvSpPr>
        <p:spPr>
          <a:xfrm>
            <a:off x="11377715" y="5710457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403848" y="554597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تزمين البرنامج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03848" y="598488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جدول: م / من / إلى / البيان / ملاحظة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0040" y="5389227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 sz="2400"/>
          </a:p>
        </p:txBody>
      </p:sp>
      <p:sp>
        <p:nvSpPr>
          <p:cNvPr id="42" name="Shape 40"/>
          <p:cNvSpPr/>
          <p:nvPr/>
        </p:nvSpPr>
        <p:spPr>
          <a:xfrm>
            <a:off x="5355802" y="5402820"/>
            <a:ext cx="594360" cy="1170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 sz="2400"/>
          </a:p>
        </p:txBody>
      </p:sp>
      <p:sp>
        <p:nvSpPr>
          <p:cNvPr id="43" name="Text 41"/>
          <p:cNvSpPr/>
          <p:nvPr/>
        </p:nvSpPr>
        <p:spPr>
          <a:xfrm>
            <a:off x="5374090" y="5722860"/>
            <a:ext cx="55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338328" y="541994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38328" y="5858854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إيجابيات - سلبيات - اقتراحات للتطوير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إحصائية الحضور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واقعي من تقرير شهري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70498" y="1310640"/>
            <a:ext cx="256032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8970498" y="1447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970498" y="2087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المسجلين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4697" y="1274064"/>
            <a:ext cx="2560320" cy="13716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664697" y="141122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64697" y="2051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الحضور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5167" y="1286256"/>
            <a:ext cx="2560320" cy="13716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6165167" y="142341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65167" y="2063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من السابق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14932" y="1286256"/>
            <a:ext cx="2560320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3414932" y="142341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14932" y="2063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جدد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39712"/>
              </p:ext>
            </p:extLst>
          </p:nvPr>
        </p:nvGraphicFramePr>
        <p:xfrm>
          <a:off x="671732" y="2846832"/>
          <a:ext cx="10882533" cy="3474720"/>
        </p:xfrm>
        <a:graphic>
          <a:graphicData uri="http://schemas.openxmlformats.org/drawingml/2006/table">
            <a:tbl>
              <a:tblPr/>
              <a:tblGrid>
                <a:gridCol w="218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2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ar-SA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طالب جديد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السابق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المسجلون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الفصل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الفصل الاول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الفصل الثاني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الفصل الثالث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الفصل الرابع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 والتوصيات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486400" cy="4114800"/>
          </a:xfrm>
          <a:prstGeom prst="rect">
            <a:avLst/>
          </a:prstGeom>
          <a:solidFill>
            <a:srgbClr val="122840"/>
          </a:solidFill>
          <a:ln w="190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0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أبرز الإنجازات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كاملة: Trigger يربط الطلاب بكل نشاط تلقائياً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مرونة مالية: NULL/صفر/أي مبلغ حسب ظروف الطالب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عربية 100% مع RightToLeft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محكمة: FK + Indexes + 3NF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الكائنات الأربعة: Index+Function+Trigger+Procedure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متعدد الحقول فوري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شهرية وسنوية تفصيلية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5486400" cy="4114800"/>
          </a:xfrm>
          <a:prstGeom prst="rect">
            <a:avLst/>
          </a:prstGeom>
          <a:solidFill>
            <a:srgbClr val="122840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54864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492240" y="11155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  التوصيات المستقبلية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169164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صلاحيات متعدد المستويات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APEX قابلة للطباعة من المتصفح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واتساب للغائبين</a:t>
            </a:r>
            <a:endParaRPr lang="en-US" dirty="0"/>
          </a:p>
          <a:p>
            <a:pPr marL="342900" indent="-342900" algn="r" rtl="1">
              <a:lnSpc>
                <a:spcPct val="150000"/>
              </a:lnSpc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موبايل لنفس قاعدة البيانات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وبالله التوفيق</a:t>
            </a:r>
            <a:endParaRPr lang="en-US" sz="1800" dirty="0"/>
          </a:p>
          <a:p>
            <a:pPr marL="0" indent="0" algn="ctr" rtl="1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بلال مزروع  |  جامعة إقليم سبأ  |  د. معاذ الصبري  |  2025/2026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1003</Words>
  <Application>Microsoft Office PowerPoint</Application>
  <PresentationFormat>شاشة عريضة</PresentationFormat>
  <Paragraphs>288</Paragraphs>
  <Slides>12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bilal mzrwo</cp:lastModifiedBy>
  <cp:revision>4</cp:revision>
  <dcterms:created xsi:type="dcterms:W3CDTF">2026-04-21T04:28:02Z</dcterms:created>
  <dcterms:modified xsi:type="dcterms:W3CDTF">2026-04-23T17:19:00Z</dcterms:modified>
</cp:coreProperties>
</file>